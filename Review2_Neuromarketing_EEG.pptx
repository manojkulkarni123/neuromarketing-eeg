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996696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 i="0">
                <a:solidFill>
                  <a:srgbClr val="000000"/>
                </a:solidFill>
                <a:latin typeface="Calibri Light"/>
              </a:rPr>
              <a:t>EEG-Based Neuromarketing: Tracking Brain Responses to Video Advertisements with a Dry‑Electrode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1546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000000"/>
                </a:solidFill>
                <a:latin typeface="Calibri"/>
              </a:rPr>
              <a:t>Siddhant Sawhney</a:t>
            </a:r>
          </a:p>
          <a:p>
            <a:pPr algn="ctr"/>
            <a:r>
              <a:rPr sz="2200" b="0" i="0">
                <a:solidFill>
                  <a:srgbClr val="000000"/>
                </a:solidFill>
                <a:latin typeface="Calibri"/>
              </a:rPr>
              <a:t>1BM23CS327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31546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000000"/>
                </a:solidFill>
                <a:latin typeface="Calibri"/>
              </a:rPr>
              <a:t>Manoj Kulkarni</a:t>
            </a:r>
          </a:p>
          <a:p>
            <a:pPr algn="ctr"/>
            <a:r>
              <a:rPr sz="2200" b="0" i="0">
                <a:solidFill>
                  <a:srgbClr val="000000"/>
                </a:solidFill>
                <a:latin typeface="Calibri"/>
              </a:rPr>
              <a:t>1BM23CS184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1546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000000"/>
                </a:solidFill>
                <a:latin typeface="Calibri"/>
              </a:rPr>
              <a:t>Pranav Easwar</a:t>
            </a:r>
          </a:p>
          <a:p>
            <a:pPr algn="ctr"/>
            <a:r>
              <a:rPr sz="2200" b="0" i="0">
                <a:solidFill>
                  <a:srgbClr val="000000"/>
                </a:solidFill>
                <a:latin typeface="Calibri"/>
              </a:rPr>
              <a:t>1BM23CS365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1546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000000"/>
                </a:solidFill>
                <a:latin typeface="Calibri"/>
              </a:rPr>
              <a:t>Padma Deepak</a:t>
            </a:r>
          </a:p>
          <a:p>
            <a:pPr algn="ctr"/>
            <a:r>
              <a:rPr sz="2200" b="0" i="0">
                <a:solidFill>
                  <a:srgbClr val="000000"/>
                </a:solidFill>
                <a:latin typeface="Calibri"/>
              </a:rPr>
              <a:t>1BM23CS222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251960"/>
            <a:ext cx="76169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50" b="0" i="0">
                <a:solidFill>
                  <a:srgbClr val="000000"/>
                </a:solidFill>
                <a:latin typeface="Calibri"/>
              </a:rPr>
              <a:t>Amit Pradhan</a:t>
            </a:r>
          </a:p>
          <a:p>
            <a:pPr algn="ctr"/>
            <a:r>
              <a:rPr sz="1850" b="0" i="0">
                <a:solidFill>
                  <a:srgbClr val="000000"/>
                </a:solidFill>
                <a:latin typeface="Calibri"/>
              </a:rPr>
              <a:t>Professor</a:t>
            </a:r>
          </a:p>
          <a:p>
            <a:pPr algn="ctr"/>
            <a:r>
              <a:rPr sz="1850" b="0" i="0">
                <a:solidFill>
                  <a:srgbClr val="000000"/>
                </a:solidFill>
                <a:latin typeface="Calibri"/>
              </a:rPr>
              <a:t>Department of Computer Science and Engineering</a:t>
            </a:r>
          </a:p>
          <a:p>
            <a:pPr algn="ctr"/>
            <a:r>
              <a:rPr sz="1850" b="0" i="0">
                <a:solidFill>
                  <a:srgbClr val="000000"/>
                </a:solidFill>
                <a:latin typeface="Calibri"/>
              </a:rPr>
              <a:t>B.M.S.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00000"/>
                </a:solidFill>
                <a:latin typeface="Calibri"/>
              </a:rPr>
              <a:t>1.   Problem Statement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00000"/>
                </a:solidFill>
                <a:latin typeface="Calibri"/>
              </a:rPr>
              <a:t>2.   High level Design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00000"/>
                </a:solidFill>
                <a:latin typeface="Calibri"/>
              </a:rPr>
              <a:t>3.   Detailed Design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00000"/>
                </a:solidFill>
                <a:latin typeface="Calibri"/>
              </a:rPr>
              <a:t>4.   Implementation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00000"/>
                </a:solidFill>
                <a:latin typeface="Calibri"/>
              </a:rPr>
              <a:t>5.   Results (Table, Graphs, Datasets Used) and Snapshots of the output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00000"/>
                </a:solidFill>
                <a:latin typeface="Calibri"/>
              </a:rPr>
              <a:t>6.   Conclusion and Future Enhancements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00000"/>
                </a:solidFill>
                <a:latin typeface="Calibri"/>
              </a:rPr>
              <a:t>7.   Paper published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00000"/>
                </a:solidFill>
                <a:latin typeface="Calibri"/>
              </a:rPr>
              <a:t>8. 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alibri Light"/>
              </a:rPr>
              <a:t>Sustainable Development Goals (SDGs) Addressed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6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Calibri"/>
              </a:rPr>
              <a:t>SDG 9 – Industry, Innovation and Infrastructure (primary): </a:t>
            </a:r>
            <a:r>
              <a:rPr sz="2000" b="0">
                <a:solidFill>
                  <a:srgbClr val="000000"/>
                </a:solidFill>
                <a:latin typeface="Calibri"/>
              </a:rPr>
              <a:t>a low-cost, open Python pipeline that turns a 19-channel dry EEG cap into a working ad-testing tool, instead of expensive commercial neuromarketing services</a:t>
            </a:r>
          </a:p>
          <a:p>
            <a:pPr marL="274320" indent="-274320">
              <a:spcAft>
                <a:spcPts val="16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Calibri"/>
              </a:rPr>
              <a:t>SDG 12 – Responsible Consumption and Production (secondary): </a:t>
            </a:r>
            <a:r>
              <a:rPr sz="2000" b="0">
                <a:solidFill>
                  <a:srgbClr val="000000"/>
                </a:solidFill>
                <a:latin typeface="Calibri"/>
              </a:rPr>
              <a:t>measuring how ads actually affect viewers (attention, liking, purchase intent) supports more transparent study of advertising influence on consumers</a:t>
            </a:r>
          </a:p>
          <a:p>
            <a:pPr marL="274320" indent="-274320">
              <a:spcAft>
                <a:spcPts val="16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Calibri"/>
              </a:rPr>
              <a:t>SDG 3 – Good Health and Well-Being (carried over from Review 1): </a:t>
            </a:r>
            <a:r>
              <a:rPr sz="2000" b="0">
                <a:solidFill>
                  <a:srgbClr val="000000"/>
                </a:solidFill>
                <a:latin typeface="Calibri"/>
              </a:rPr>
              <a:t>the same signal-quality checks and EEG features are reusable in cognitive/clinical EEG work</a:t>
            </a:r>
          </a:p>
          <a:p>
            <a:pPr marL="274320" indent="-274320">
              <a:spcAft>
                <a:spcPts val="16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Calibri"/>
              </a:rPr>
              <a:t>This is a research prototype tested in the lab; no field deployment is claimed yet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6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Calibri"/>
              </a:rPr>
              <a:t>Multidisciplinary project: </a:t>
            </a:r>
            <a:r>
              <a:rPr sz="2000" b="0">
                <a:solidFill>
                  <a:srgbClr val="000000"/>
                </a:solidFill>
                <a:latin typeface="Calibri"/>
              </a:rPr>
              <a:t>combines neuroscience (EEG rhythms), signal processing (filtering, ICA), consumer psychology / marketing (ad liking, purchase intent) and software engineering</a:t>
            </a:r>
          </a:p>
          <a:p>
            <a:pPr marL="274320" indent="-274320">
              <a:spcAft>
                <a:spcPts val="16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Calibri"/>
              </a:rPr>
              <a:t>Field work: </a:t>
            </a:r>
            <a:r>
              <a:rPr sz="2000" b="0">
                <a:solidFill>
                  <a:srgbClr val="000000"/>
                </a:solidFill>
                <a:latin typeface="Calibri"/>
              </a:rPr>
              <a:t>our own EEG recordings with volunteer participants using the Mitsar amplifier, SmartDRY 19-channel cap and EEGStudio software</a:t>
            </a:r>
          </a:p>
          <a:p>
            <a:pPr marL="274320" indent="-274320">
              <a:spcAft>
                <a:spcPts val="16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Calibri"/>
              </a:rPr>
              <a:t>Change from Review 1: </a:t>
            </a:r>
            <a:r>
              <a:rPr sz="2000" b="0">
                <a:solidFill>
                  <a:srgbClr val="000000"/>
                </a:solidFill>
                <a:latin typeface="Calibri"/>
              </a:rPr>
              <a:t>Review 1 only reanalysed a public dataset (OpenNeuro ds002739). This phase collects new data</a:t>
            </a:r>
          </a:p>
          <a:p>
            <a:pPr marL="274320" indent="-274320">
              <a:spcAft>
                <a:spcPts val="16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Calibri"/>
              </a:rPr>
              <a:t>External partner: </a:t>
            </a:r>
            <a:r>
              <a:rPr sz="2000" b="0">
                <a:solidFill>
                  <a:srgbClr val="000000"/>
                </a:solidFill>
                <a:latin typeface="Calibri"/>
              </a:rPr>
              <a:t>none yet. Data collection is done in-house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Calibri"/>
              </a:rPr>
              <a:t>Review 1 recap: </a:t>
            </a:r>
            <a:r>
              <a:rPr sz="2000" b="0">
                <a:solidFill>
                  <a:srgbClr val="000000"/>
                </a:solidFill>
                <a:latin typeface="Calibri"/>
              </a:rPr>
              <a:t>pre-decisional EEG predicted the upcoming choice (LDA AUC 0.558). A compact CNN (EEGNet) did not beat LDA (0.544 vs 0.563, p = 0.019) with ~150 trials per subject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Calibri"/>
              </a:rPr>
              <a:t>Next step: </a:t>
            </a:r>
            <a:r>
              <a:rPr sz="2000" b="0">
                <a:solidFill>
                  <a:srgbClr val="000000"/>
                </a:solidFill>
                <a:latin typeface="Calibri"/>
              </a:rPr>
              <a:t>apply EEG decision research to a real everyday decision, which is how people respond to ads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Calibri"/>
              </a:rPr>
              <a:t>Gap: </a:t>
            </a:r>
            <a:r>
              <a:rPr sz="2000" b="0">
                <a:solidFill>
                  <a:srgbClr val="000000"/>
                </a:solidFill>
                <a:latin typeface="Calibri"/>
              </a:rPr>
              <a:t>ad testing mostly relies on questionnaires, which give one number after the ad and are biased. They cannot show which moment of the ad held attention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Calibri"/>
              </a:rPr>
              <a:t>Our questions:</a:t>
            </a:r>
          </a:p>
          <a:p>
            <a:pPr marL="594359" indent="-274320">
              <a:spcAft>
                <a:spcPts val="1000"/>
              </a:spcAft>
              <a:buChar char="–"/>
            </a:pPr>
            <a:r>
              <a:rPr sz="1800" b="0">
                <a:solidFill>
                  <a:srgbClr val="000000"/>
                </a:solidFill>
                <a:latin typeface="Calibri"/>
              </a:rPr>
              <a:t>Q1: Can a low-cost dry-electrode cap and our own pipeline produce a reliable second-by-second engagement timeline for each ad?</a:t>
            </a:r>
          </a:p>
          <a:p>
            <a:pPr marL="594359" indent="-274320">
              <a:spcAft>
                <a:spcPts val="1000"/>
              </a:spcAft>
              <a:buChar char="–"/>
            </a:pPr>
            <a:r>
              <a:rPr sz="1800" b="0">
                <a:solidFill>
                  <a:srgbClr val="000000"/>
                </a:solidFill>
                <a:latin typeface="Calibri"/>
              </a:rPr>
              <a:t>Q2: Do four EEG measures (frontal asymmetry, engagement index, frontal theta, posterior alpha suppression) track viewers' liking and purchase-intent ratings?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Overview of the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One recording session, one participant: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2011680" cy="10972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Eyes-open baseline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60 s, fixation cross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2468880"/>
            <a:ext cx="365760" cy="4572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2148840"/>
            <a:ext cx="2011680" cy="10972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Eyes-closed baseline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60 s, beep to open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86400" y="2468880"/>
            <a:ext cx="365760" cy="4572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1920240"/>
            <a:ext cx="5760720" cy="2377440"/>
          </a:xfrm>
          <a:prstGeom prst="roundRect">
            <a:avLst/>
          </a:prstGeom>
          <a:noFill/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88620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libri"/>
              </a:rPr>
              <a:t>repeated for each of the 5 ads (random order per participant)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48840"/>
            <a:ext cx="1188720" cy="10972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Fixation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4 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60920" y="2514600"/>
            <a:ext cx="274320" cy="36576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0" y="2148840"/>
            <a:ext cx="1280160" cy="10972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Video ad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32–90 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06840" y="2514600"/>
            <a:ext cx="274320" cy="36576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0" y="2148840"/>
            <a:ext cx="1005840" cy="10972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Gray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screen 3 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378440" y="2514600"/>
            <a:ext cx="274320" cy="36576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98480" y="2148840"/>
            <a:ext cx="914400" cy="10972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Two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ratings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3291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Baseline</a:t>
            </a:r>
          </a:p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Personal reference level for every measure; eyes-closed also checks cap contact (alpha should rise)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572000"/>
            <a:ext cx="3474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Buffers</a:t>
            </a:r>
          </a:p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Fixation hides the key-press artefact from the last rating; gray screen catches the delayed reaction to the logo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572000"/>
            <a:ext cx="3566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Ratings (1–9)</a:t>
            </a:r>
          </a:p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"How much did you like this ad?"</a:t>
            </a:r>
          </a:p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"How likely would you be to buy this product?"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High level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Acquisition (live, during the session)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2331720" cy="1143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Mitsar amp +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SmartDRY 19-ch cap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2258568"/>
            <a:ext cx="365760" cy="4572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79" y="1920240"/>
            <a:ext cx="2331720" cy="1143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EEGStudio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LSL Outlet (~252.6 Hz)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9320" y="2258568"/>
            <a:ext cx="365760" cy="4572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2331720" cy="1143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Our LSL recorder +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PsychoPy task markers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78240" y="2258568"/>
            <a:ext cx="365760" cy="4572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89719" y="1920240"/>
            <a:ext cx="2331720" cy="1143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Session file (.fif)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EEG + markers, one clock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83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Analysis (offline, per recording)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94760"/>
            <a:ext cx="1874519" cy="1143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Electrode quality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724912" y="4133087"/>
            <a:ext cx="320040" cy="4572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63240" y="3794760"/>
            <a:ext cx="1874519" cy="1143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1–40 Hz filter +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ICA blink removal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65192" y="4133087"/>
            <a:ext cx="320040" cy="4572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03520" y="3794760"/>
            <a:ext cx="1874519" cy="1143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Sliding-window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4 EEG measures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05472" y="4133087"/>
            <a:ext cx="320040" cy="4572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43800" y="3794760"/>
            <a:ext cx="1874519" cy="1143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Relative to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personal baseline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45752" y="4133087"/>
            <a:ext cx="320040" cy="457200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0" y="3794760"/>
            <a:ext cx="1874519" cy="1143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Per-ad numbers,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plot, replay 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Calibri"/>
              </a:rPr>
              <a:t>EEG and task markers are timestamped on the same Lab Streaming Layer (LSL) clock, so no manual alignment is needed. Measured marker accuracy: within ~0.1 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Detailed Design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0020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94560"/>
                <a:gridCol w="1828800"/>
                <a:gridCol w="2103120"/>
                <a:gridCol w="1737360"/>
              </a:tblGrid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Electrodes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Band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Computed as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Higher value means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Frontal alpha asymmetry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Fp1 / Fp2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α 8–13 Hz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ln(α right) − ln(α left)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approach / wanting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Engagement index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Cz, Fz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β 13–25, α 8–13 Hz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log10(β / α)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more alert / engaged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Frontal theta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Fz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θ 4–8 Hz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power change in dB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more mental processing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Posterior alpha suppression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O1/O2/Pz (else P3/P4)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α 8–13 Hz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% drop in power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more visual attention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1148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Sliding window: 3 s long, moved in 1 s steps; Welch spectrum inside each window (1 s segments, 50% overlap)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Per-ad value = median over windows inside the ad (robust to short artefact bursts), compared with the eyes-open baseline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F3 and F8 are permanently dead on our cap, so asymmetry uses Fp1/Fp2 (frontal-pole asymmetry)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β capped at 25 Hz to limit jaw/forehead muscle noise on the dry cap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Implementation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00200"/>
          <a:ext cx="6675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ad_viewing_task.py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PsychoPy session: baselines, ads, buffers, ratings, markers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lsl_recorder.py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Records EEGStudio's LSL stream, maps channels, saves .fif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calibrate_channels.py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Finds channel order (stream has no labels)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preprocess_mne.py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Quality check, 1–40 Hz filter, ICA blink removal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extract_neuromarketing_features.py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4 measures, baseline comparison, plots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build_replay.py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Offline HTML: video + 4 graphs in sync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16002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Calibri"/>
              </a:rPr>
              <a:t>Stack: </a:t>
            </a:r>
            <a:r>
              <a:rPr sz="1500" b="0">
                <a:solidFill>
                  <a:srgbClr val="000000"/>
                </a:solidFill>
                <a:latin typeface="Calibri"/>
              </a:rPr>
              <a:t>Python 3.11 venv, PsychoPy, pylsl, MNE, NumPy/SciPy, Matplotlib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Calibri"/>
              </a:rPr>
              <a:t>Channel map: </a:t>
            </a:r>
            <a:r>
              <a:rPr sz="1500" b="0">
                <a:solidFill>
                  <a:srgbClr val="000000"/>
                </a:solidFill>
                <a:latin typeface="Calibri"/>
              </a:rPr>
              <a:t>found by correlating our recording with EEGStudio's labelled EDF export, then a tap test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Calibri"/>
              </a:rPr>
              <a:t>Quality rule: </a:t>
            </a:r>
            <a:r>
              <a:rPr sz="1500" b="0">
                <a:solidFill>
                  <a:srgbClr val="000000"/>
                </a:solidFill>
                <a:latin typeface="Calibri"/>
              </a:rPr>
              <a:t>electrode rejected if it copies an unconnected input (|r| &gt; 0.8) or is above 150 µV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Calibri"/>
              </a:rPr>
              <a:t>Safety: </a:t>
            </a:r>
            <a:r>
              <a:rPr sz="1500" b="0">
                <a:solidFill>
                  <a:srgbClr val="000000"/>
                </a:solidFill>
                <a:latin typeface="Calibri"/>
              </a:rPr>
              <a:t>data saved even if a session is stopped midway; refuses to overwrite a participant 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Results – Pipeline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Calibri"/>
              </a:rPr>
              <a:t>Each processing step checked on synthetic EEG where the correct answer is known: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65960"/>
          <a:ext cx="67665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  <a:gridCol w="2103120"/>
              </a:tblGrid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Injected (expected)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Measured by pipeline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Eye-blink removal (ICA)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Blink on Fp1, 127 µV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Reduced to 21 µV; asymmetry kept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Posterior alpha suppression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50% drop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49.4%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Frontal theta change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+3.0 dB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+2.87 dB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Engagement index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β doubled (+100%)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+92%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Robustness of per-ad median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 s, 150 µV artefact burst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Result changed by &lt; 1%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Timing on the real system</a:t>
            </a:r>
          </a:p>
          <a:p>
            <a:pPr marL="594359" indent="-274320">
              <a:spcAft>
                <a:spcPts val="600"/>
              </a:spcAft>
              <a:buChar char="–"/>
            </a:pPr>
            <a:r>
              <a:rPr sz="1500" b="0">
                <a:solidFill>
                  <a:srgbClr val="000000"/>
                </a:solidFill>
                <a:latin typeface="Calibri"/>
              </a:rPr>
              <a:t>Stream rate measured at ~252.6 Hz, not the nominal 250 Hz (using nominal would drift markers ~6%)</a:t>
            </a:r>
          </a:p>
          <a:p>
            <a:pPr marL="594359" indent="-274320">
              <a:spcAft>
                <a:spcPts val="600"/>
              </a:spcAft>
              <a:buChar char="–"/>
            </a:pPr>
            <a:r>
              <a:rPr sz="1500" b="0">
                <a:solidFill>
                  <a:srgbClr val="000000"/>
                </a:solidFill>
                <a:latin typeface="Calibri"/>
              </a:rPr>
              <a:t>Ad marked as 59.8 s vs 60.1 s video length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Calibri"/>
              </a:rPr>
              <a:t>Limit found</a:t>
            </a:r>
          </a:p>
          <a:p>
            <a:pPr marL="594359" indent="-274320">
              <a:spcAft>
                <a:spcPts val="600"/>
              </a:spcAft>
              <a:buChar char="–"/>
            </a:pPr>
            <a:r>
              <a:rPr sz="1500" b="0">
                <a:solidFill>
                  <a:srgbClr val="000000"/>
                </a:solidFill>
                <a:latin typeface="Calibri"/>
              </a:rPr>
              <a:t>With ~30 s of data, pure noise gives asymmetry changes of SD ≈ 0.18, so asymmetry is only meaningful as a group average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Results – Lab Test Run (test1)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Datasets: our own recordings. pilot01 (29-09-2026, ad02) and test1 (19-10-2026, ad04, Budweiser), 1 participant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65960"/>
          <a:ext cx="6035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5661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Usable electrodes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10 of 19 (Fp1, Fp2, F7, Fz, F4, C3, Cz, C4, T5, P3)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F3, F8 (dead), T3, T4, T6, Pz, P4, O1, O2 (poor contact)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Blink components removed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 (r = 0.78 with Fp1/Fp2)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Cap check (eyes closed / open α)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1.35× on P3: OK (≥ 1.3)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60" y="1965960"/>
          <a:ext cx="4114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4630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ad04 vs baseline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36576" marB="36576"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Frontal asymmetry change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+0.06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Engagement index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+14.5%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Frontal theta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−1.1 dB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Posterior alpha suppression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45.4%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Liking / Purchase intent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8 / 4 (of 9)</a:t>
                      </a:r>
                    </a:p>
                  </a:txBody>
                  <a:tcPr marT="36576" marB="36576"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4892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Whole chain worked end to end on the real cap: record → clean → measures → plot → replay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Calibri"/>
              </a:rPr>
              <a:t>Strong alpha drop and higher engagement during the ad; asymmetry change is inside the noise range (single person)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Results – Engagement Timeline (snapshot)</a:t>
            </a:r>
          </a:p>
        </p:txBody>
      </p:sp>
      <p:pic>
        <p:nvPicPr>
          <p:cNvPr id="7" name="Picture 6" descr="test1_raw_engagement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4281055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0" y="16459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Output of extract_neuromarketing_features.py for test1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Gray: eyes-open and eyes-closed baselines. Green: ad04 playing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Dashed line: the person's eyes-open baseline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Before the ad: large swings from the participant settling and pressing keys. This is why the 4 s fixation buffer was added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Calibri"/>
              </a:rPr>
              <a:t>Posterior alpha axis is inverted, so up = more attention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Results – Replay Viewer (snapshot)</a:t>
            </a:r>
          </a:p>
        </p:txBody>
      </p:sp>
      <p:pic>
        <p:nvPicPr>
          <p:cNvPr id="7" name="Picture 6" descr="replay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63040"/>
            <a:ext cx="923925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Calibri"/>
              </a:rPr>
              <a:t>Ad plays next to the 4 measures; a red cursor follows the video and clicking a graph jumps the video to that moment.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Calibri"/>
              </a:rPr>
              <a:t>Built a complete, low-cost neuromarketing system: session task, synchronised recording, cleaning, 4 EEG measures and a video replay tool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Calibri"/>
              </a:rPr>
              <a:t>Solved practical problems of the dry cap: unlabelled stream, dead/poor electrodes detected automatically, measured (not assumed) sampling rate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Calibri"/>
              </a:rPr>
              <a:t>Every analysis step was validated on synthetic data before use on real recordings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Calibri"/>
              </a:rPr>
              <a:t>First real recording shows the expected pattern during an ad (alpha drop, higher engagement), but one participant is not evidence. Group data is needed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Calibri"/>
              </a:rPr>
              <a:t>Continuation of Review 1: same EEG decision theme, now with our own data and a real-world 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1900" b="1">
                <a:solidFill>
                  <a:srgbClr val="000000"/>
                </a:solidFill>
                <a:latin typeface="Calibri"/>
              </a:rPr>
              <a:t>Full sessions: </a:t>
            </a:r>
            <a:r>
              <a:rPr sz="1900" b="0">
                <a:solidFill>
                  <a:srgbClr val="000000"/>
                </a:solidFill>
                <a:latin typeface="Calibri"/>
              </a:rPr>
              <a:t>all 5 ads per participant, then recruit ~20 participants (with consent forms)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900" b="1">
                <a:solidFill>
                  <a:srgbClr val="000000"/>
                </a:solidFill>
                <a:latin typeface="Calibri"/>
              </a:rPr>
              <a:t>Better contact: </a:t>
            </a:r>
            <a:r>
              <a:rPr sz="1900" b="0">
                <a:solidFill>
                  <a:srgbClr val="000000"/>
                </a:solidFill>
                <a:latin typeface="Calibri"/>
              </a:rPr>
              <a:t>fix posterior electrodes (O1/O2/Pz) so alpha does not depend on P3 alone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900" b="1">
                <a:solidFill>
                  <a:srgbClr val="000000"/>
                </a:solidFill>
                <a:latin typeface="Calibri"/>
              </a:rPr>
              <a:t>Group statistics: </a:t>
            </a:r>
            <a:r>
              <a:rPr sz="1900" b="0">
                <a:solidFill>
                  <a:srgbClr val="000000"/>
                </a:solidFill>
                <a:latin typeface="Calibri"/>
              </a:rPr>
              <a:t>test whether each measure tracks liking and purchase intent across people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900" b="1">
                <a:solidFill>
                  <a:srgbClr val="000000"/>
                </a:solidFill>
                <a:latin typeface="Calibri"/>
              </a:rPr>
              <a:t>Inter-subject correlation (ISC): </a:t>
            </a:r>
            <a:r>
              <a:rPr sz="1900" b="0">
                <a:solidFill>
                  <a:srgbClr val="000000"/>
                </a:solidFill>
                <a:latin typeface="Calibri"/>
              </a:rPr>
              <a:t>how similar brains are across viewers, a strong predictor in the literature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900" b="1">
                <a:solidFill>
                  <a:srgbClr val="000000"/>
                </a:solidFill>
                <a:latin typeface="Calibri"/>
              </a:rPr>
              <a:t>Opening-seconds "hook" score: </a:t>
            </a:r>
            <a:r>
              <a:rPr sz="1900" b="0">
                <a:solidFill>
                  <a:srgbClr val="000000"/>
                </a:solidFill>
                <a:latin typeface="Calibri"/>
              </a:rPr>
              <a:t>engagement in the first 5 s of each ad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900" b="1">
                <a:solidFill>
                  <a:srgbClr val="000000"/>
                </a:solidFill>
                <a:latin typeface="Calibri"/>
              </a:rPr>
              <a:t>Prediction model: </a:t>
            </a:r>
            <a:r>
              <a:rPr sz="1900" b="0">
                <a:solidFill>
                  <a:srgbClr val="000000"/>
                </a:solidFill>
                <a:latin typeface="Calibri"/>
              </a:rPr>
              <a:t>predict the ratings from EEG, tested on unseen participants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900" b="1">
                <a:solidFill>
                  <a:srgbClr val="000000"/>
                </a:solidFill>
                <a:latin typeface="Calibri"/>
              </a:rPr>
              <a:t>Controls: </a:t>
            </a:r>
            <a:r>
              <a:rPr sz="1900" b="0">
                <a:solidFill>
                  <a:srgbClr val="000000"/>
                </a:solidFill>
                <a:latin typeface="Calibri"/>
              </a:rPr>
              <a:t>ask if the ad was seen before (familiarity), consider equal-length ad clips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Papers published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Calibri"/>
              </a:rPr>
              <a:t>Not yet published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Calibri"/>
              </a:rPr>
              <a:t>Planned: journal paper on the neuromarketing study after group data collection (target venues: MDPI Sensors / Brain Sciences, IEEE Access, Frontiers)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Calibri"/>
              </a:rPr>
              <a:t>Review 1 work (EEG decision decoding, LDA vs EEGNet): manuscript in preparation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98755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6070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1.  Davidson, R. J. (1992). Anterior cerebral asymmetry and the nature of emotion. Brain and Cognition, 20(1), 125–151.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2.  Allen, J. J. B., Coan, J. A., &amp; Nazarian, M. (2004). Issues and assumptions on the road from raw signals to metrics of frontal EEG asymmetry in emotion. Biological Psychology, 67(1–2), 183–218.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3.  Pope, A. T., Bogart, E. H., &amp; Bartolome, D. S. (1995). Biocybernetic system evaluates indices of operator engagement in automated task. Biological Psychology, 40(1–2), 187–195.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4.  Klimesch, W. (1999). EEG alpha and theta oscillations reflect cognitive and memory performance. Brain Research Reviews, 29(2–3), 169–195.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5.  Vecchiato, G., et al. (2011). On the use of EEG or MEG brain imaging tools in neuromarketing research. Computational Intelligence and Neuroscience, 2011, 643489.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6.  Dmochowski, J. P., et al. (2014). Audience preferences are predicted by temporal reliability of neural processing. Nature Communications, 5, 4567.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7.  Boksem, M. A. S., &amp; Smidts, A. (2015). Brain responses to movie trailers predict individual preferences for movies and their population-wide commercial success. Journal of Marketing Research, 52(4), 482–492.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8.  Venkatraman, V., et al. (2015). Predicting advertising success beyond traditional measures. Journal of Marketing Research, 52(4), 436–452.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9.  Hakim, A., et al. (2021). Machines learn neuromarketing: Improving preference prediction from self-reports using multiple EEG measures and machine learning. Int. J. of Research in Marketing, 38(3), 770–791.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10.  Gramfort, A., et al. (2013). MEG and EEG data analysis with MNE-Python. Frontiers in Neuroscience, 7, 267.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11.  Peirce, J., et al. (2019). PsychoPy2: Experiments in behavior made easy. Behavior Research Methods, 51(1), 195–203.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12.  Gherman, S., &amp; Philiastides, M. G. (2018). Human VMPFC encodes early signatures of confidence in perceptual decisions. eLife, 7, e38293.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48" y="0"/>
            <a:ext cx="1188720" cy="1161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23-10-2026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6400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Calibri"/>
              </a:rPr>
              <a:t>EEG Neuromarketing                Department of CSE, BSMCE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 i="0">
                <a:solidFill>
                  <a:srgbClr val="000000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